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0DAF"/>
    <a:srgbClr val="FA58C9"/>
    <a:srgbClr val="00FA00"/>
    <a:srgbClr val="FF0505"/>
    <a:srgbClr val="FC1594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54" y="6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63F1B-58B9-49A8-800C-25A61A9E7228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7AB19-E49B-4427-A250-D582032A9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75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B4D84A-D693-DACD-B432-0CC092B35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5FC9B-245D-AF51-AC30-4FE43673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A99D2D-87BB-58D8-0751-E3969BBF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2C12F6-D9DB-5291-308B-8836AA3E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49D48D-143F-7CF0-280F-EDE012D2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70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8DB16-BC71-E240-7C37-9AA24B1C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99A8A0-B8FB-1A4C-6470-98FA46F8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A10C85-C1DC-57C2-76DB-3ED74027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D8A76E-570E-0AB2-F9E5-772A26EE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674A14-B2FC-F81F-FCB4-CE489BA8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1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A11ED-7C5A-845F-1336-BC9A63A6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235A1A-1EED-C135-037F-3A9E40C3E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BABD5E-2169-FD12-552F-F6A28874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22ED85-141C-D3A2-B72B-E73C33BD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802D53-E7D8-76B2-F567-BD0349B9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34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B6791-5E06-BAD4-939A-735B8490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889BFB-9E80-832D-5661-EDD7BFE80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AD0866-20CC-AEBE-F91A-F80D8B21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D3BE7C-E1E9-CB1D-F8C7-9B145F6D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C38C56-4000-47B5-11B0-9849608B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5A817F-968F-6002-D008-650F9BE4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34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28F95-D6AA-5A08-4A62-8D7B45838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98275E-F59D-C7E2-1B3B-202E5B902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5ECFC9-46DB-7C82-4984-3E6E2EE9A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8317D5-850A-0102-7564-622F8EBF6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C66571F-EDB5-0C13-6A8B-72301D93E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9923BD-4E1E-114F-3A5F-95F016E3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B8F52B-756D-5269-C387-1E03451B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8FC29E-F903-2082-275C-CD39B243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44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39218-AF93-FAB1-E656-96C0A0BB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60FCE9-1B54-0405-523D-34DC9EA2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5B23C0-A206-96F0-3683-7DDF5DB7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F96588-2F34-640B-F35E-AF33BB55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77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20CC33B-8D83-9305-6E60-9B6C9EDDE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521B038-F75C-30F1-3E46-00BB67CE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0CED71-944D-1362-6826-19F0F32B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050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52C5E-5BED-FA7D-D5A8-93C7304E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08DDA7-2E2F-BEF2-447A-4FF78EA39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EF9B7F-DC39-BC7E-E637-4A2761D80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AE2ABF-15F0-DDA3-CCA9-19897316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C9319C-6376-455F-19A3-6E699E1A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25C1CF-CD1F-ABCC-DAD4-83BBF17C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9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96681-4CE2-3B75-AA7A-8B45A5AA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B0F463-D1A8-F07B-5D41-55B85161C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0404D6-0B98-27C9-9E85-C3AFC4D24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A1956B-ECA6-95CE-7917-BC9754D0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DA4859-4E9A-ED46-3E7C-0DB8AD95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71EC36-CDA7-DD44-5441-968A3CAA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9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E966B-0CA7-FA1A-8615-808F2459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E7F5C1-A181-6CD1-0F73-E1575E0B6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9C08F3-813E-3107-198A-5B884AF9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965B6B-A71D-E3D5-F08A-A9A7D77B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EC9C68-C20A-F946-110A-3EDDBCC6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68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9B7CF0-3EB4-F2AA-6D47-E87FD5E7B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BF3FBF-DC8B-0471-1C3C-33DE17CF3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885FCB-0879-971A-736E-CC37EE16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80096F-061F-9587-4AB7-6002BB65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5F8F82-182D-2E8D-945C-7D545FCC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49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595FE4-2698-8487-DB25-F5E1C303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853C96-0276-8A56-FF24-27F76D16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24AF0-CBCF-4F61-4F24-A46FAA24C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DCA5A-5487-47C8-81AE-2400A4A7FBD1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115BBA-1EB8-F0F3-6E2D-CA3AAB9B9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D62B7F-45E7-7D9A-D736-699F50020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A679C-05E8-438E-9DB1-BA190C544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50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74C3-E155-DE1F-25D4-A8394E91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B032E6-C1A5-8DE5-1428-AFBD1BA5E3D7}"/>
              </a:ext>
            </a:extLst>
          </p:cNvPr>
          <p:cNvSpPr txBox="1"/>
          <p:nvPr/>
        </p:nvSpPr>
        <p:spPr>
          <a:xfrm>
            <a:off x="314325" y="238125"/>
            <a:ext cx="229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Chip-seq pipeline</a:t>
            </a:r>
            <a:endParaRPr kumimoji="1" lang="ja-JP" altLang="en-US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C9840E-4D8D-EF87-12B4-B9EE8F51FE36}"/>
              </a:ext>
            </a:extLst>
          </p:cNvPr>
          <p:cNvSpPr txBox="1"/>
          <p:nvPr/>
        </p:nvSpPr>
        <p:spPr>
          <a:xfrm>
            <a:off x="3140233" y="2863839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fastq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47BCF2-41BB-B03C-226C-A9F96409E038}"/>
              </a:ext>
            </a:extLst>
          </p:cNvPr>
          <p:cNvSpPr txBox="1"/>
          <p:nvPr/>
        </p:nvSpPr>
        <p:spPr>
          <a:xfrm>
            <a:off x="3140233" y="4187814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bam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9A23757-993F-C2E1-9DF4-65F4C1248401}"/>
              </a:ext>
            </a:extLst>
          </p:cNvPr>
          <p:cNvSpPr txBox="1"/>
          <p:nvPr/>
        </p:nvSpPr>
        <p:spPr>
          <a:xfrm>
            <a:off x="3861910" y="5130439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bw</a:t>
            </a:r>
            <a:endParaRPr kumimoji="1"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805ABDA0-597F-8D28-566A-8DF5B5F66C9D}"/>
              </a:ext>
            </a:extLst>
          </p:cNvPr>
          <p:cNvCxnSpPr/>
          <p:nvPr/>
        </p:nvCxnSpPr>
        <p:spPr>
          <a:xfrm>
            <a:off x="3716495" y="3397239"/>
            <a:ext cx="0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C4EFB28-BEE0-1238-1DD3-A02F4724EE63}"/>
              </a:ext>
            </a:extLst>
          </p:cNvPr>
          <p:cNvCxnSpPr>
            <a:cxnSpLocks/>
          </p:cNvCxnSpPr>
          <p:nvPr/>
        </p:nvCxnSpPr>
        <p:spPr>
          <a:xfrm>
            <a:off x="3706970" y="4522395"/>
            <a:ext cx="721677" cy="551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A804B15-1D62-3C9B-F1BF-0201E04496B9}"/>
              </a:ext>
            </a:extLst>
          </p:cNvPr>
          <p:cNvSpPr txBox="1"/>
          <p:nvPr/>
        </p:nvSpPr>
        <p:spPr>
          <a:xfrm>
            <a:off x="3873658" y="3267055"/>
            <a:ext cx="7788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f</a:t>
            </a:r>
            <a:r>
              <a:rPr kumimoji="1" lang="en-US" altLang="ja-JP" dirty="0" err="1"/>
              <a:t>astp</a:t>
            </a:r>
            <a:r>
              <a:rPr kumimoji="1" lang="en-US" altLang="ja-JP" dirty="0"/>
              <a:t>: quality check/control</a:t>
            </a:r>
          </a:p>
          <a:p>
            <a:r>
              <a:rPr lang="en-US" altLang="ja-JP" dirty="0"/>
              <a:t>Bowtie2: mapping</a:t>
            </a:r>
          </a:p>
          <a:p>
            <a:r>
              <a:rPr kumimoji="1" lang="en-US" altLang="ja-JP" dirty="0"/>
              <a:t>Drop duplicated reads, multi-mapped reads and reads in blacklist*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69E8B5-6B8B-E47A-689A-9E885777D955}"/>
              </a:ext>
            </a:extLst>
          </p:cNvPr>
          <p:cNvSpPr txBox="1"/>
          <p:nvPr/>
        </p:nvSpPr>
        <p:spPr>
          <a:xfrm>
            <a:off x="4530247" y="4455676"/>
            <a:ext cx="6873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d</a:t>
            </a:r>
            <a:r>
              <a:rPr kumimoji="1" lang="en-US" altLang="ja-JP" dirty="0" err="1"/>
              <a:t>eeptools</a:t>
            </a:r>
            <a:r>
              <a:rPr kumimoji="1" lang="en-US" altLang="ja-JP" dirty="0"/>
              <a:t>(</a:t>
            </a:r>
            <a:r>
              <a:rPr kumimoji="1" lang="en-US" altLang="ja-JP" dirty="0" err="1">
                <a:solidFill>
                  <a:srgbClr val="FF0000"/>
                </a:solidFill>
              </a:rPr>
              <a:t>bamCompare</a:t>
            </a:r>
            <a:r>
              <a:rPr kumimoji="1" lang="en-US" altLang="ja-JP" dirty="0"/>
              <a:t>)</a:t>
            </a:r>
            <a:r>
              <a:rPr lang="en-US" altLang="ja-JP" dirty="0"/>
              <a:t>: scale reads</a:t>
            </a:r>
            <a:r>
              <a:rPr lang="ja-JP" altLang="en-US" dirty="0"/>
              <a:t> </a:t>
            </a:r>
            <a:r>
              <a:rPr lang="en-US" altLang="ja-JP" dirty="0"/>
              <a:t>(CPM,</a:t>
            </a:r>
            <a:r>
              <a:rPr lang="ja-JP" altLang="en-US" dirty="0"/>
              <a:t> </a:t>
            </a:r>
            <a:r>
              <a:rPr lang="en-US" altLang="ja-JP" dirty="0"/>
              <a:t>1bp</a:t>
            </a:r>
            <a:r>
              <a:rPr lang="ja-JP" altLang="en-US" dirty="0"/>
              <a:t> </a:t>
            </a:r>
            <a:r>
              <a:rPr lang="en-US" altLang="ja-JP" dirty="0"/>
              <a:t>bin), subtract of input sample reads &amp; convert bam to bigwig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A2B4AC6-7685-C4ED-6EF9-54E4AFFA5784}"/>
              </a:ext>
            </a:extLst>
          </p:cNvPr>
          <p:cNvSpPr txBox="1"/>
          <p:nvPr/>
        </p:nvSpPr>
        <p:spPr>
          <a:xfrm>
            <a:off x="866775" y="765141"/>
            <a:ext cx="9298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 err="1"/>
              <a:t>Bioproject</a:t>
            </a:r>
            <a:r>
              <a:rPr lang="en-US" altLang="ja-JP" b="1" dirty="0"/>
              <a:t>: PRJNA63471 (ENCODE project)</a:t>
            </a:r>
          </a:p>
          <a:p>
            <a:r>
              <a:rPr lang="en-US" altLang="ja-JP" dirty="0"/>
              <a:t>SRR3652506,SRR3652507,SRR3652505,SRR3652504 MM_forbrain_E13.5</a:t>
            </a:r>
            <a:r>
              <a:rPr lang="ja-JP" altLang="en-US" dirty="0"/>
              <a:t>_input</a:t>
            </a:r>
          </a:p>
          <a:p>
            <a:r>
              <a:rPr lang="en-US" altLang="ja-JP" dirty="0"/>
              <a:t>SRR3651819,SRR3651820</a:t>
            </a:r>
            <a:r>
              <a:rPr lang="ja-JP" altLang="en-US" dirty="0"/>
              <a:t> </a:t>
            </a:r>
            <a:r>
              <a:rPr lang="en-US" altLang="ja-JP" dirty="0"/>
              <a:t>MM_forbrain_E13.5</a:t>
            </a:r>
            <a:r>
              <a:rPr lang="ja-JP" altLang="en-US" dirty="0"/>
              <a:t>_H3K27ac</a:t>
            </a:r>
          </a:p>
          <a:p>
            <a:r>
              <a:rPr lang="en-US" altLang="ja-JP" dirty="0"/>
              <a:t>SRR3652223,SRR3652224</a:t>
            </a:r>
            <a:r>
              <a:rPr lang="ja-JP" altLang="en-US" dirty="0"/>
              <a:t> </a:t>
            </a:r>
            <a:r>
              <a:rPr lang="en-US" altLang="ja-JP" dirty="0"/>
              <a:t>MM_forbrain_E13.5 </a:t>
            </a:r>
            <a:r>
              <a:rPr lang="ja-JP" altLang="en-US" dirty="0"/>
              <a:t>H3K4me</a:t>
            </a: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2D3699-374D-92F2-B59E-0E2FB7C4B029}"/>
              </a:ext>
            </a:extLst>
          </p:cNvPr>
          <p:cNvSpPr txBox="1"/>
          <p:nvPr/>
        </p:nvSpPr>
        <p:spPr>
          <a:xfrm>
            <a:off x="7383778" y="6265680"/>
            <a:ext cx="4693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*https://github.com/Boyle-Lab/Blacklist</a:t>
            </a:r>
            <a:endParaRPr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C172B33-CC8F-38FE-DDA7-780BF3DEA2C5}"/>
              </a:ext>
            </a:extLst>
          </p:cNvPr>
          <p:cNvCxnSpPr>
            <a:cxnSpLocks/>
          </p:cNvCxnSpPr>
          <p:nvPr/>
        </p:nvCxnSpPr>
        <p:spPr>
          <a:xfrm flipH="1">
            <a:off x="3140233" y="4542263"/>
            <a:ext cx="566102" cy="559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6269BFA-5174-16BB-7040-7F1B69304168}"/>
              </a:ext>
            </a:extLst>
          </p:cNvPr>
          <p:cNvSpPr txBox="1"/>
          <p:nvPr/>
        </p:nvSpPr>
        <p:spPr>
          <a:xfrm>
            <a:off x="2609056" y="5125359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txt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62028F8-4877-2E45-5691-A39F597CEDA4}"/>
              </a:ext>
            </a:extLst>
          </p:cNvPr>
          <p:cNvSpPr txBox="1"/>
          <p:nvPr/>
        </p:nvSpPr>
        <p:spPr>
          <a:xfrm>
            <a:off x="0" y="4446239"/>
            <a:ext cx="312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dirty="0" err="1"/>
              <a:t>featureCounts</a:t>
            </a:r>
            <a:r>
              <a:rPr lang="en-US" altLang="ja-JP" dirty="0"/>
              <a:t>:</a:t>
            </a:r>
          </a:p>
          <a:p>
            <a:pPr algn="r"/>
            <a:r>
              <a:rPr lang="en-US" altLang="ja-JP" dirty="0"/>
              <a:t>r</a:t>
            </a:r>
            <a:r>
              <a:rPr kumimoji="1" lang="en-US" altLang="ja-JP" dirty="0"/>
              <a:t>ead count per gene</a:t>
            </a:r>
            <a:endParaRPr kumimoji="1" lang="ja-JP" altLang="en-US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4024080-C42E-0F35-FC05-3C7D7347CB4E}"/>
              </a:ext>
            </a:extLst>
          </p:cNvPr>
          <p:cNvCxnSpPr>
            <a:cxnSpLocks/>
          </p:cNvCxnSpPr>
          <p:nvPr/>
        </p:nvCxnSpPr>
        <p:spPr>
          <a:xfrm>
            <a:off x="3716495" y="2438400"/>
            <a:ext cx="0" cy="42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A58383-FDB3-43B4-89C4-A1C0419EADE3}"/>
              </a:ext>
            </a:extLst>
          </p:cNvPr>
          <p:cNvSpPr txBox="1"/>
          <p:nvPr/>
        </p:nvSpPr>
        <p:spPr>
          <a:xfrm>
            <a:off x="1230231" y="2082812"/>
            <a:ext cx="4982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Replicates were merged into one </a:t>
            </a:r>
            <a:r>
              <a:rPr kumimoji="1" lang="en-US" altLang="ja-JP" dirty="0" err="1"/>
              <a:t>fastq</a:t>
            </a:r>
            <a:r>
              <a:rPr kumimoji="1" lang="en-US" altLang="ja-JP" dirty="0"/>
              <a:t> file</a:t>
            </a:r>
            <a:endParaRPr kumimoji="1" lang="ja-JP" altLang="en-US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4D4B81C7-C346-FF4C-6770-E24133814EEF}"/>
              </a:ext>
            </a:extLst>
          </p:cNvPr>
          <p:cNvCxnSpPr>
            <a:cxnSpLocks/>
          </p:cNvCxnSpPr>
          <p:nvPr/>
        </p:nvCxnSpPr>
        <p:spPr>
          <a:xfrm>
            <a:off x="4446267" y="5480923"/>
            <a:ext cx="0" cy="309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F7B04D6-2B53-89F3-658B-0160C7D591DA}"/>
              </a:ext>
            </a:extLst>
          </p:cNvPr>
          <p:cNvCxnSpPr>
            <a:cxnSpLocks/>
          </p:cNvCxnSpPr>
          <p:nvPr/>
        </p:nvCxnSpPr>
        <p:spPr>
          <a:xfrm>
            <a:off x="3140233" y="5480923"/>
            <a:ext cx="0" cy="309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D81C214-F79F-1D3B-9DB2-D3171588FAF8}"/>
              </a:ext>
            </a:extLst>
          </p:cNvPr>
          <p:cNvSpPr txBox="1"/>
          <p:nvPr/>
        </p:nvSpPr>
        <p:spPr>
          <a:xfrm>
            <a:off x="1230231" y="5804015"/>
            <a:ext cx="289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Gene body</a:t>
            </a:r>
          </a:p>
          <a:p>
            <a:pPr algn="ctr"/>
            <a:r>
              <a:rPr kumimoji="1" lang="en-US" altLang="ja-JP" dirty="0"/>
              <a:t>RPKM analysis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E47FDFD-C765-FD97-E316-1F85BD9D3F42}"/>
              </a:ext>
            </a:extLst>
          </p:cNvPr>
          <p:cNvSpPr txBox="1"/>
          <p:nvPr/>
        </p:nvSpPr>
        <p:spPr>
          <a:xfrm>
            <a:off x="2999532" y="5804015"/>
            <a:ext cx="289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Metagen</a:t>
            </a:r>
            <a:r>
              <a:rPr lang="en-US" altLang="ja-JP" dirty="0"/>
              <a:t>e</a:t>
            </a:r>
          </a:p>
          <a:p>
            <a:pPr algn="ctr"/>
            <a:r>
              <a:rPr lang="en-US" altLang="ja-JP" dirty="0"/>
              <a:t>analysis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C28CAA3-26F4-8B24-E73D-17F835E8282D}"/>
              </a:ext>
            </a:extLst>
          </p:cNvPr>
          <p:cNvSpPr txBox="1"/>
          <p:nvPr/>
        </p:nvSpPr>
        <p:spPr>
          <a:xfrm>
            <a:off x="4530247" y="5371969"/>
            <a:ext cx="766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d</a:t>
            </a:r>
            <a:r>
              <a:rPr kumimoji="1" lang="en-US" altLang="ja-JP" dirty="0" err="1"/>
              <a:t>eeptools</a:t>
            </a:r>
            <a:r>
              <a:rPr kumimoji="1" lang="en-US" altLang="ja-JP" dirty="0"/>
              <a:t>(</a:t>
            </a:r>
            <a:r>
              <a:rPr lang="en-US" altLang="ja-JP" dirty="0" err="1"/>
              <a:t>computeMatrix</a:t>
            </a:r>
            <a:r>
              <a:rPr lang="en-US" altLang="ja-JP" dirty="0"/>
              <a:t> scale-regions, </a:t>
            </a:r>
            <a:r>
              <a:rPr lang="en-US" altLang="ja-JP" dirty="0" err="1"/>
              <a:t>plotHeatmap</a:t>
            </a:r>
            <a:r>
              <a:rPr kumimoji="1" lang="en-US" altLang="ja-JP" dirty="0"/>
              <a:t>)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5497DC-EFBC-B595-F414-5FA7980F2C18}"/>
              </a:ext>
            </a:extLst>
          </p:cNvPr>
          <p:cNvSpPr txBox="1"/>
          <p:nvPr/>
        </p:nvSpPr>
        <p:spPr>
          <a:xfrm>
            <a:off x="9440317" y="142765"/>
            <a:ext cx="2637383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dirty="0"/>
              <a:t>&lt;Scripts used&gt;</a:t>
            </a:r>
          </a:p>
          <a:p>
            <a:r>
              <a:rPr lang="ja-JP" altLang="en-US" dirty="0"/>
              <a:t>epigenome_PE.sh</a:t>
            </a:r>
            <a:endParaRPr lang="en-US" altLang="ja-JP" dirty="0"/>
          </a:p>
          <a:p>
            <a:r>
              <a:rPr lang="en-US" altLang="ja-JP" dirty="0"/>
              <a:t>featurecounts_chip.sh</a:t>
            </a:r>
          </a:p>
          <a:p>
            <a:r>
              <a:rPr lang="en-US" altLang="ja-JP" dirty="0"/>
              <a:t>local_metagene_int.sh</a:t>
            </a:r>
          </a:p>
          <a:p>
            <a:r>
              <a:rPr lang="en-US" altLang="ja-JP" dirty="0"/>
              <a:t>bamcomp.sh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550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9A88-4AA8-A3EF-560E-0E11CBB3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12F16B-A38E-7072-C76E-4BCBD189043C}"/>
              </a:ext>
            </a:extLst>
          </p:cNvPr>
          <p:cNvSpPr txBox="1"/>
          <p:nvPr/>
        </p:nvSpPr>
        <p:spPr>
          <a:xfrm>
            <a:off x="314325" y="238125"/>
            <a:ext cx="229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ATAC-seq pipeline</a:t>
            </a:r>
            <a:endParaRPr kumimoji="1" lang="ja-JP" altLang="en-US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8EA9D0-604C-985E-4945-A85E0DF5BC74}"/>
              </a:ext>
            </a:extLst>
          </p:cNvPr>
          <p:cNvSpPr txBox="1"/>
          <p:nvPr/>
        </p:nvSpPr>
        <p:spPr>
          <a:xfrm>
            <a:off x="7383778" y="6269355"/>
            <a:ext cx="4693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*https://github.com/Boyle-Lab/Blacklist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3D9607-1F7B-5F3A-3014-B8B687D6F8EB}"/>
              </a:ext>
            </a:extLst>
          </p:cNvPr>
          <p:cNvSpPr txBox="1"/>
          <p:nvPr/>
        </p:nvSpPr>
        <p:spPr>
          <a:xfrm>
            <a:off x="3140233" y="2520971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fastq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974338-203B-4F2A-64C7-A3CE13BFF70A}"/>
              </a:ext>
            </a:extLst>
          </p:cNvPr>
          <p:cNvSpPr txBox="1"/>
          <p:nvPr/>
        </p:nvSpPr>
        <p:spPr>
          <a:xfrm>
            <a:off x="3140233" y="3844946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bam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B3242B-7599-539A-7B97-FCC5F13BF620}"/>
              </a:ext>
            </a:extLst>
          </p:cNvPr>
          <p:cNvSpPr txBox="1"/>
          <p:nvPr/>
        </p:nvSpPr>
        <p:spPr>
          <a:xfrm>
            <a:off x="3861910" y="4833869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bw</a:t>
            </a:r>
            <a:endParaRPr kumimoji="1"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481E2C6-79AF-3C84-EDCE-3224C6179971}"/>
              </a:ext>
            </a:extLst>
          </p:cNvPr>
          <p:cNvCxnSpPr/>
          <p:nvPr/>
        </p:nvCxnSpPr>
        <p:spPr>
          <a:xfrm>
            <a:off x="3716495" y="3054371"/>
            <a:ext cx="0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A23E65F-A977-8720-E455-A481EC57EB49}"/>
              </a:ext>
            </a:extLst>
          </p:cNvPr>
          <p:cNvCxnSpPr>
            <a:cxnSpLocks/>
          </p:cNvCxnSpPr>
          <p:nvPr/>
        </p:nvCxnSpPr>
        <p:spPr>
          <a:xfrm>
            <a:off x="3706970" y="4225825"/>
            <a:ext cx="721677" cy="551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1DE8B23-F3D4-7A76-5EEF-20855E6304E6}"/>
              </a:ext>
            </a:extLst>
          </p:cNvPr>
          <p:cNvSpPr txBox="1"/>
          <p:nvPr/>
        </p:nvSpPr>
        <p:spPr>
          <a:xfrm>
            <a:off x="3873658" y="2924187"/>
            <a:ext cx="7788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f</a:t>
            </a:r>
            <a:r>
              <a:rPr kumimoji="1" lang="en-US" altLang="ja-JP" dirty="0" err="1"/>
              <a:t>astp</a:t>
            </a:r>
            <a:r>
              <a:rPr kumimoji="1" lang="en-US" altLang="ja-JP" dirty="0"/>
              <a:t>: quality check/control</a:t>
            </a:r>
          </a:p>
          <a:p>
            <a:r>
              <a:rPr lang="en-US" altLang="ja-JP" dirty="0"/>
              <a:t>Bowtie2: mapping</a:t>
            </a:r>
          </a:p>
          <a:p>
            <a:r>
              <a:rPr kumimoji="1" lang="en-US" altLang="ja-JP" dirty="0"/>
              <a:t>Drop duplicated reads, multi-mapped reads and reads in blacklist*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7D9094-AE1D-FF00-115B-C232AB013C2D}"/>
              </a:ext>
            </a:extLst>
          </p:cNvPr>
          <p:cNvSpPr txBox="1"/>
          <p:nvPr/>
        </p:nvSpPr>
        <p:spPr>
          <a:xfrm>
            <a:off x="4530247" y="4159106"/>
            <a:ext cx="7661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d</a:t>
            </a:r>
            <a:r>
              <a:rPr kumimoji="1" lang="en-US" altLang="ja-JP" dirty="0" err="1"/>
              <a:t>eeptools</a:t>
            </a:r>
            <a:r>
              <a:rPr kumimoji="1" lang="en-US" altLang="ja-JP" dirty="0"/>
              <a:t>(</a:t>
            </a:r>
            <a:r>
              <a:rPr lang="en-US" altLang="ja-JP" dirty="0" err="1">
                <a:solidFill>
                  <a:srgbClr val="FF0000"/>
                </a:solidFill>
              </a:rPr>
              <a:t>bamCoverage</a:t>
            </a:r>
            <a:r>
              <a:rPr kumimoji="1" lang="en-US" altLang="ja-JP" dirty="0"/>
              <a:t>)</a:t>
            </a:r>
            <a:r>
              <a:rPr lang="en-US" altLang="ja-JP" dirty="0"/>
              <a:t>:</a:t>
            </a:r>
          </a:p>
          <a:p>
            <a:r>
              <a:rPr lang="en-US" altLang="ja-JP" dirty="0"/>
              <a:t>scale reads (CPM ,</a:t>
            </a:r>
            <a:r>
              <a:rPr lang="ja-JP" altLang="en-US" dirty="0"/>
              <a:t> </a:t>
            </a:r>
            <a:r>
              <a:rPr lang="en-US" altLang="ja-JP" dirty="0"/>
              <a:t>1bp</a:t>
            </a:r>
            <a:r>
              <a:rPr lang="ja-JP" altLang="en-US" dirty="0"/>
              <a:t> </a:t>
            </a:r>
            <a:r>
              <a:rPr lang="en-US" altLang="ja-JP" dirty="0"/>
              <a:t>bin) &amp; convert bam to bigwig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DAFA5FE-ED60-2FB2-04F1-91D407920F0B}"/>
              </a:ext>
            </a:extLst>
          </p:cNvPr>
          <p:cNvCxnSpPr>
            <a:cxnSpLocks/>
          </p:cNvCxnSpPr>
          <p:nvPr/>
        </p:nvCxnSpPr>
        <p:spPr>
          <a:xfrm flipH="1">
            <a:off x="3140233" y="4245693"/>
            <a:ext cx="566102" cy="559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2DC68A-DB54-5245-5B5A-574E583ED271}"/>
              </a:ext>
            </a:extLst>
          </p:cNvPr>
          <p:cNvSpPr txBox="1"/>
          <p:nvPr/>
        </p:nvSpPr>
        <p:spPr>
          <a:xfrm>
            <a:off x="2609056" y="4828789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txt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87257D6-C624-9180-41B7-D7BC2C3A7A25}"/>
              </a:ext>
            </a:extLst>
          </p:cNvPr>
          <p:cNvSpPr txBox="1"/>
          <p:nvPr/>
        </p:nvSpPr>
        <p:spPr>
          <a:xfrm>
            <a:off x="0" y="4149669"/>
            <a:ext cx="312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dirty="0" err="1"/>
              <a:t>featureCounts</a:t>
            </a:r>
            <a:r>
              <a:rPr lang="en-US" altLang="ja-JP" dirty="0"/>
              <a:t>:</a:t>
            </a:r>
          </a:p>
          <a:p>
            <a:pPr algn="r"/>
            <a:r>
              <a:rPr lang="en-US" altLang="ja-JP" dirty="0"/>
              <a:t>r</a:t>
            </a:r>
            <a:r>
              <a:rPr kumimoji="1" lang="en-US" altLang="ja-JP" dirty="0"/>
              <a:t>ead count per gene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A45BD1-E250-A6B6-42CE-28BF058F3EDD}"/>
              </a:ext>
            </a:extLst>
          </p:cNvPr>
          <p:cNvSpPr txBox="1"/>
          <p:nvPr/>
        </p:nvSpPr>
        <p:spPr>
          <a:xfrm>
            <a:off x="866775" y="849709"/>
            <a:ext cx="9298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 err="1"/>
              <a:t>Bioproject</a:t>
            </a:r>
            <a:r>
              <a:rPr lang="en-US" altLang="ja-JP" b="1" dirty="0"/>
              <a:t>: PRJNA63471 (ENCODE project)</a:t>
            </a:r>
          </a:p>
          <a:p>
            <a:r>
              <a:rPr lang="en-US" altLang="ja-JP" dirty="0"/>
              <a:t>SRR14305885,SRR14305886 MM_forbrain_E13.5</a:t>
            </a:r>
            <a:r>
              <a:rPr lang="ja-JP" altLang="en-US" dirty="0"/>
              <a:t>_</a:t>
            </a:r>
            <a:r>
              <a:rPr lang="en-US" altLang="ja-JP" dirty="0"/>
              <a:t>ATAC</a:t>
            </a:r>
            <a:endParaRPr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CAB659-C18A-DD57-5B05-A50287F0DE2C}"/>
              </a:ext>
            </a:extLst>
          </p:cNvPr>
          <p:cNvSpPr txBox="1"/>
          <p:nvPr/>
        </p:nvSpPr>
        <p:spPr>
          <a:xfrm>
            <a:off x="1230231" y="1734853"/>
            <a:ext cx="4982687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Replicates were merged into one </a:t>
            </a:r>
            <a:r>
              <a:rPr kumimoji="1" lang="en-US" altLang="ja-JP" dirty="0" err="1"/>
              <a:t>fastq</a:t>
            </a:r>
            <a:r>
              <a:rPr kumimoji="1" lang="en-US" altLang="ja-JP" dirty="0"/>
              <a:t> file</a:t>
            </a:r>
            <a:endParaRPr kumimoji="1" lang="ja-JP" altLang="en-US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17E7369-B56A-C982-A92C-89C4381C83CE}"/>
              </a:ext>
            </a:extLst>
          </p:cNvPr>
          <p:cNvCxnSpPr>
            <a:cxnSpLocks/>
          </p:cNvCxnSpPr>
          <p:nvPr/>
        </p:nvCxnSpPr>
        <p:spPr>
          <a:xfrm>
            <a:off x="3716495" y="2087635"/>
            <a:ext cx="0" cy="467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5EA87A7-B64C-12C1-C131-CE9AAAE6F558}"/>
              </a:ext>
            </a:extLst>
          </p:cNvPr>
          <p:cNvCxnSpPr>
            <a:cxnSpLocks/>
          </p:cNvCxnSpPr>
          <p:nvPr/>
        </p:nvCxnSpPr>
        <p:spPr>
          <a:xfrm>
            <a:off x="4446267" y="5225980"/>
            <a:ext cx="0" cy="309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4593A269-C7B9-C96A-481D-42661EA0CDD4}"/>
              </a:ext>
            </a:extLst>
          </p:cNvPr>
          <p:cNvCxnSpPr>
            <a:cxnSpLocks/>
          </p:cNvCxnSpPr>
          <p:nvPr/>
        </p:nvCxnSpPr>
        <p:spPr>
          <a:xfrm>
            <a:off x="3140233" y="5225980"/>
            <a:ext cx="0" cy="309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09B1EC9-5420-E3F0-92B0-BDE347C46E65}"/>
              </a:ext>
            </a:extLst>
          </p:cNvPr>
          <p:cNvSpPr txBox="1"/>
          <p:nvPr/>
        </p:nvSpPr>
        <p:spPr>
          <a:xfrm>
            <a:off x="1115059" y="5549072"/>
            <a:ext cx="289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Gene body</a:t>
            </a:r>
          </a:p>
          <a:p>
            <a:pPr algn="ctr"/>
            <a:r>
              <a:rPr kumimoji="1" lang="en-US" altLang="ja-JP" dirty="0"/>
              <a:t>RPKM analysis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9235787-F8FC-CAE3-06D1-10066E081661}"/>
              </a:ext>
            </a:extLst>
          </p:cNvPr>
          <p:cNvSpPr txBox="1"/>
          <p:nvPr/>
        </p:nvSpPr>
        <p:spPr>
          <a:xfrm>
            <a:off x="2999532" y="5549072"/>
            <a:ext cx="2894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Metagen</a:t>
            </a:r>
            <a:r>
              <a:rPr lang="en-US" altLang="ja-JP" dirty="0"/>
              <a:t>e</a:t>
            </a:r>
          </a:p>
          <a:p>
            <a:pPr algn="ctr"/>
            <a:r>
              <a:rPr lang="en-US" altLang="ja-JP" dirty="0"/>
              <a:t>analysis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6243D4F-D8A7-B63A-ECB2-3C7FD23F9660}"/>
              </a:ext>
            </a:extLst>
          </p:cNvPr>
          <p:cNvSpPr txBox="1"/>
          <p:nvPr/>
        </p:nvSpPr>
        <p:spPr>
          <a:xfrm>
            <a:off x="4530247" y="5117026"/>
            <a:ext cx="766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d</a:t>
            </a:r>
            <a:r>
              <a:rPr kumimoji="1" lang="en-US" altLang="ja-JP" dirty="0" err="1"/>
              <a:t>eeptools</a:t>
            </a:r>
            <a:r>
              <a:rPr kumimoji="1" lang="en-US" altLang="ja-JP" dirty="0"/>
              <a:t>(</a:t>
            </a:r>
            <a:r>
              <a:rPr lang="en-US" altLang="ja-JP" dirty="0" err="1"/>
              <a:t>computeMatrix</a:t>
            </a:r>
            <a:r>
              <a:rPr lang="en-US" altLang="ja-JP" dirty="0"/>
              <a:t> scale-regions, </a:t>
            </a:r>
            <a:r>
              <a:rPr lang="en-US" altLang="ja-JP" dirty="0" err="1"/>
              <a:t>plotHeatmap</a:t>
            </a:r>
            <a:r>
              <a:rPr kumimoji="1" lang="en-US" altLang="ja-JP" dirty="0"/>
              <a:t>)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B8568C-A5B1-E015-81FE-FB29736D890E}"/>
              </a:ext>
            </a:extLst>
          </p:cNvPr>
          <p:cNvSpPr txBox="1"/>
          <p:nvPr/>
        </p:nvSpPr>
        <p:spPr>
          <a:xfrm>
            <a:off x="9240292" y="219313"/>
            <a:ext cx="2637383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dirty="0"/>
              <a:t>&lt;Scripts used&gt;</a:t>
            </a:r>
          </a:p>
          <a:p>
            <a:r>
              <a:rPr lang="ja-JP" altLang="en-US" dirty="0"/>
              <a:t>epigenome_</a:t>
            </a:r>
            <a:r>
              <a:rPr lang="en-US" altLang="ja-JP" dirty="0"/>
              <a:t>S</a:t>
            </a:r>
            <a:r>
              <a:rPr lang="ja-JP" altLang="en-US" dirty="0"/>
              <a:t>E.sh</a:t>
            </a:r>
            <a:endParaRPr lang="en-US" altLang="ja-JP" dirty="0"/>
          </a:p>
          <a:p>
            <a:r>
              <a:rPr lang="en-US" altLang="ja-JP" dirty="0"/>
              <a:t>featurecounts_atac.sh</a:t>
            </a:r>
          </a:p>
          <a:p>
            <a:r>
              <a:rPr lang="en-US" altLang="ja-JP" dirty="0"/>
              <a:t>local_metagene_int.sh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0601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259</Words>
  <Application>Microsoft Office PowerPoint</Application>
  <PresentationFormat>ワイド画面</PresentationFormat>
  <Paragraphs>52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凌 黒澤</dc:creator>
  <cp:lastModifiedBy>凌 黒澤</cp:lastModifiedBy>
  <cp:revision>78</cp:revision>
  <dcterms:created xsi:type="dcterms:W3CDTF">2025-02-05T07:04:35Z</dcterms:created>
  <dcterms:modified xsi:type="dcterms:W3CDTF">2026-04-12T08:56:16Z</dcterms:modified>
</cp:coreProperties>
</file>